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2FCB6-FEDC-499E-E51C-2E8900402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52827F-95E9-81BC-3B7A-8D2EA3C6AF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6C4D4-59BE-4A0F-1566-D77404E3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09D3E-DF9B-4F0F-9132-72A7996D10E7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B94C5-72D8-887A-9D13-AC2096736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809D3-1942-48EB-3393-37AA7883A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9B305-92DA-4375-BB64-A03A4E3A3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788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1F691-2E46-E330-803C-550310B7B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B28FB-8DE9-4B68-5D58-880603D9F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2213A-EC89-6475-E599-91B5863F0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09D3E-DF9B-4F0F-9132-72A7996D10E7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9915D-1145-2C2E-74D9-3528B4A4F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98C0D-08DB-3FAC-71DE-11D22309B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9B305-92DA-4375-BB64-A03A4E3A3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729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E4EC1-8C60-FB02-B851-7804ADC8A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23F42-4E6B-E307-2790-6BFC379EE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94619-F103-85AF-E7D0-18DAF46B7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09D3E-DF9B-4F0F-9132-72A7996D10E7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2A981-278B-F05D-7A9E-FF3FA1AB0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A2136-3907-5EED-5AF1-4AB7B87B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9B305-92DA-4375-BB64-A03A4E3A3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536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6C06A-20B8-D0AB-6291-719FF8E94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FC63E-00C8-9A10-6C97-6232C7F43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EF30F-D253-5024-7819-335032D4B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021C7-715A-A26A-E87E-D97D8FA4F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09D3E-DF9B-4F0F-9132-72A7996D10E7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28286-820C-4C87-B746-0825843FB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0B93F-FBA7-6536-B510-B5031E90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9B305-92DA-4375-BB64-A03A4E3A3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555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551D7-D2E8-9FBB-E71F-87897AB0B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5ACF7B-5865-7011-D3B5-37AC04C34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A6CBD-8453-B46A-6186-AD488CEB3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773B08-EB54-9E7F-F98E-4031A4DCDE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CCF95E-233C-49B0-F6E2-35E56D170E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45A6D2-9023-45DE-E455-021B3DC20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09D3E-DF9B-4F0F-9132-72A7996D10E7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EFB19B-9638-2D54-D46E-EFF874514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8CBDD5-AF8B-2131-DF0F-5DFDDAC2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9B305-92DA-4375-BB64-A03A4E3A3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270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339B5-474F-D318-C26C-F0786DAB7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014BBF-D237-75CE-8E1D-4B50F7DA6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09D3E-DF9B-4F0F-9132-72A7996D10E7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ABCC59-EE8E-3C4B-EF15-BA5216F89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661319-C53C-14A3-10B9-52DD8D4FE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9B305-92DA-4375-BB64-A03A4E3A3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244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724C08-CB38-AF8A-A2EC-9BB85253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09D3E-DF9B-4F0F-9132-72A7996D10E7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1A1804-5055-C251-40F6-A1C900FC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2D994-33E4-4D54-4DFE-4D3A51C82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9B305-92DA-4375-BB64-A03A4E3A3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276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5A0D8-D48E-9705-AB6C-D3BFDA699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82FE2-1472-3FAF-9210-82362F0D7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39CE8-9AFE-324A-49F6-2237550F7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9A2ED-1A0D-0538-D4FF-9F5B88E5C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09D3E-DF9B-4F0F-9132-72A7996D10E7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666E-68DC-DBBC-7665-E86F17892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51BA2-BCEA-8B26-0637-1B1B490DD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9B305-92DA-4375-BB64-A03A4E3A3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236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9581B-A326-87CF-ACD8-03DB457D4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9C073F-D7A6-2577-445D-B7CE05D7EB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94EB7B-86C0-29BA-F2B5-7EC0B08F6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72DAB-09CC-E5C1-A2C4-E9E01F387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09D3E-DF9B-4F0F-9132-72A7996D10E7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18F44-F789-763C-40BD-FC05BA88E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361FD-65DF-615E-6040-C1FBCB153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9B305-92DA-4375-BB64-A03A4E3A3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340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FDC92-6EA2-68CF-224B-4429DDCD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8B336B-CE44-E588-F05C-D246A7281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BD093-A1A2-66E4-0349-D2860CE73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09D3E-DF9B-4F0F-9132-72A7996D10E7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EB3AC-05EA-AC40-F57B-4A2D8B0DC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6875A-5C51-026B-0E8E-9E5612299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9B305-92DA-4375-BB64-A03A4E3A3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278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6C96FA-03E7-BF76-FEBA-77DAFA701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5B0178-8100-C717-19F1-C601E6AA4C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4ED86-292F-08C4-815F-86C43C1C6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09D3E-DF9B-4F0F-9132-72A7996D10E7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8F2B5-08F7-DC60-2EB8-27E4C7BD6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26A73-5AC2-B57B-8261-92489B36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9B305-92DA-4375-BB64-A03A4E3A3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623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74BDD2-0686-0EDE-4D4D-3BDBB1B9E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B6820-593B-9E94-73EF-8943C3EC4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AC0E7-E28D-962F-B43A-E2C309823A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09D3E-DF9B-4F0F-9132-72A7996D10E7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D220D-B761-BC6A-09BB-E3DD277057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E0319-55B8-76D1-BC77-354506DD18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9B305-92DA-4375-BB64-A03A4E3A31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834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9637E-8E62-08DF-7F2E-805EFDA6F8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9DF3F5-5C15-E750-FBC8-1A98820132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B05FE9-CAFE-23BF-191A-EC777536C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32"/>
            <a:ext cx="1219199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9210AB-C8A3-60E4-E343-83F4F99BF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626" y="1885116"/>
            <a:ext cx="5702710" cy="27818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E9ED43-58B2-BF61-3F56-E595CDC7BF5A}"/>
              </a:ext>
            </a:extLst>
          </p:cNvPr>
          <p:cNvSpPr txBox="1"/>
          <p:nvPr/>
        </p:nvSpPr>
        <p:spPr>
          <a:xfrm>
            <a:off x="2497393" y="2214630"/>
            <a:ext cx="64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                          </a:t>
            </a:r>
            <a:r>
              <a:rPr lang="en-IN" sz="3600" dirty="0">
                <a:solidFill>
                  <a:schemeClr val="bg1"/>
                </a:solidFill>
                <a:latin typeface="Algerian" panose="04020705040A02060702" pitchFamily="82" charset="0"/>
              </a:rPr>
              <a:t>MATHEMATICS FOR AI</a:t>
            </a:r>
          </a:p>
          <a:p>
            <a:r>
              <a:rPr lang="en-IN" sz="3600" dirty="0">
                <a:solidFill>
                  <a:schemeClr val="bg1"/>
                </a:solidFill>
                <a:latin typeface="Algerian" panose="04020705040A02060702" pitchFamily="82" charset="0"/>
              </a:rPr>
              <a:t>                        ALM-4</a:t>
            </a:r>
          </a:p>
          <a:p>
            <a:r>
              <a:rPr lang="en-IN" sz="3600" dirty="0">
                <a:solidFill>
                  <a:schemeClr val="bg1"/>
                </a:solidFill>
                <a:latin typeface="Algerian" panose="04020705040A02060702" pitchFamily="82" charset="0"/>
              </a:rPr>
              <a:t>                          CO-3</a:t>
            </a:r>
          </a:p>
          <a:p>
            <a:r>
              <a:rPr lang="en-IN" sz="3600" dirty="0">
                <a:solidFill>
                  <a:schemeClr val="bg1"/>
                </a:solidFill>
                <a:latin typeface="Algerian" panose="04020705040A02060702" pitchFamily="82" charset="0"/>
              </a:rPr>
              <a:t>                        </a:t>
            </a:r>
            <a:r>
              <a:rPr lang="en-IN" sz="2400" dirty="0">
                <a:solidFill>
                  <a:schemeClr val="bg1"/>
                </a:solidFill>
                <a:latin typeface="Algerian" panose="04020705040A02060702" pitchFamily="82" charset="0"/>
              </a:rPr>
              <a:t>Section-6</a:t>
            </a:r>
          </a:p>
        </p:txBody>
      </p:sp>
    </p:spTree>
    <p:extLst>
      <p:ext uri="{BB962C8B-B14F-4D97-AF65-F5344CB8AC3E}">
        <p14:creationId xmlns:p14="http://schemas.microsoft.com/office/powerpoint/2010/main" val="1938748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31D8E-0470-BBBE-30E2-A4B283920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4F081DC-32ED-1010-39CD-BA26E92511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1211439"/>
              </p:ext>
            </p:extLst>
          </p:nvPr>
        </p:nvGraphicFramePr>
        <p:xfrm>
          <a:off x="838200" y="1825625"/>
          <a:ext cx="10515596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2580561371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68192949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4414400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06574526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2898061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90857391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03224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438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3465801"/>
                  </a:ext>
                </a:extLst>
              </a:tr>
            </a:tbl>
          </a:graphicData>
        </a:graphic>
      </p:graphicFrame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210C5A1-91FA-7E73-8E5F-DBE4864CF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563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5A7C7C-F723-6609-51DB-390B8CE79FE2}"/>
              </a:ext>
            </a:extLst>
          </p:cNvPr>
          <p:cNvSpPr txBox="1"/>
          <p:nvPr/>
        </p:nvSpPr>
        <p:spPr>
          <a:xfrm>
            <a:off x="363794" y="560439"/>
            <a:ext cx="114742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           GROUP MEMBERS: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F587740-981C-A39D-47A5-8FBBA4897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723907"/>
              </p:ext>
            </p:extLst>
          </p:nvPr>
        </p:nvGraphicFramePr>
        <p:xfrm>
          <a:off x="1120877" y="1825626"/>
          <a:ext cx="10373034" cy="42310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6517">
                  <a:extLst>
                    <a:ext uri="{9D8B030D-6E8A-4147-A177-3AD203B41FA5}">
                      <a16:colId xmlns:a16="http://schemas.microsoft.com/office/drawing/2014/main" val="318956660"/>
                    </a:ext>
                  </a:extLst>
                </a:gridCol>
                <a:gridCol w="5186517">
                  <a:extLst>
                    <a:ext uri="{9D8B030D-6E8A-4147-A177-3AD203B41FA5}">
                      <a16:colId xmlns:a16="http://schemas.microsoft.com/office/drawing/2014/main" val="189565446"/>
                    </a:ext>
                  </a:extLst>
                </a:gridCol>
              </a:tblGrid>
              <a:tr h="522531"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        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ROLL NUMBERS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648207"/>
                  </a:ext>
                </a:extLst>
              </a:tr>
              <a:tr h="529788">
                <a:tc>
                  <a:txBody>
                    <a:bodyPr/>
                    <a:lstStyle/>
                    <a:p>
                      <a:r>
                        <a:rPr lang="en-IN" dirty="0"/>
                        <a:t>       S Svara Haasini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2520090170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650142"/>
                  </a:ext>
                </a:extLst>
              </a:tr>
              <a:tr h="529788">
                <a:tc>
                  <a:txBody>
                    <a:bodyPr/>
                    <a:lstStyle/>
                    <a:p>
                      <a:r>
                        <a:rPr lang="en-IN" dirty="0"/>
                        <a:t>       Likhita Sri.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2520040067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195097"/>
                  </a:ext>
                </a:extLst>
              </a:tr>
              <a:tr h="529788">
                <a:tc>
                  <a:txBody>
                    <a:bodyPr/>
                    <a:lstStyle/>
                    <a:p>
                      <a:r>
                        <a:rPr lang="en-IN" dirty="0"/>
                        <a:t>       Guttikonda Gayathri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2520030465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773657"/>
                  </a:ext>
                </a:extLst>
              </a:tr>
              <a:tr h="529788">
                <a:tc>
                  <a:txBody>
                    <a:bodyPr/>
                    <a:lstStyle/>
                    <a:p>
                      <a:r>
                        <a:rPr lang="en-IN" dirty="0"/>
                        <a:t>        Poojitha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2520030541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710566"/>
                  </a:ext>
                </a:extLst>
              </a:tr>
              <a:tr h="529788">
                <a:tc>
                  <a:txBody>
                    <a:bodyPr/>
                    <a:lstStyle/>
                    <a:p>
                      <a:r>
                        <a:rPr lang="en-IN" dirty="0"/>
                        <a:t>        Angela Jose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2520030365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997902"/>
                  </a:ext>
                </a:extLst>
              </a:tr>
              <a:tr h="529788">
                <a:tc>
                  <a:txBody>
                    <a:bodyPr/>
                    <a:lstStyle/>
                    <a:p>
                      <a:r>
                        <a:rPr lang="en-IN" dirty="0"/>
                        <a:t>        Sri Vaishnavi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2520090117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217092"/>
                  </a:ext>
                </a:extLst>
              </a:tr>
              <a:tr h="529788">
                <a:tc>
                  <a:txBody>
                    <a:bodyPr/>
                    <a:lstStyle/>
                    <a:p>
                      <a:r>
                        <a:rPr lang="en-IN" dirty="0"/>
                        <a:t>        Kavya Sree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2520090143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4138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9313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97FD1-0FBD-ABF6-FB70-4EE7C33CC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114BD4-66CE-91D5-0917-62073B4ECF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563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090AF6-D68D-F905-24EF-C4D48CE04FA2}"/>
              </a:ext>
            </a:extLst>
          </p:cNvPr>
          <p:cNvSpPr txBox="1"/>
          <p:nvPr/>
        </p:nvSpPr>
        <p:spPr>
          <a:xfrm>
            <a:off x="838200" y="566241"/>
            <a:ext cx="10609007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                                                              </a:t>
            </a:r>
            <a:r>
              <a:rPr lang="en-IN" sz="4000" dirty="0">
                <a:solidFill>
                  <a:schemeClr val="bg1"/>
                </a:solidFill>
                <a:latin typeface="Algerian" panose="04020705040A02060702" pitchFamily="82" charset="0"/>
              </a:rPr>
              <a:t>WEEK-6   PROJECT</a:t>
            </a:r>
          </a:p>
          <a:p>
            <a:r>
              <a:rPr lang="en-IN" sz="4000" dirty="0">
                <a:solidFill>
                  <a:schemeClr val="bg1"/>
                </a:solidFill>
                <a:latin typeface="Algerian" panose="04020705040A02060702" pitchFamily="82" charset="0"/>
              </a:rPr>
              <a:t>                              CASE STUDY-1</a:t>
            </a:r>
          </a:p>
          <a:p>
            <a:endParaRPr lang="en-IN" sz="4000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IN" sz="4000" dirty="0">
                <a:solidFill>
                  <a:schemeClr val="bg1"/>
                </a:solidFill>
                <a:latin typeface="Algerian" panose="04020705040A02060702" pitchFamily="82" charset="0"/>
              </a:rPr>
              <a:t>Problem statement</a:t>
            </a:r>
          </a:p>
          <a:p>
            <a:r>
              <a:rPr lang="en-US" sz="3200" dirty="0">
                <a:solidFill>
                  <a:schemeClr val="bg1"/>
                </a:solidFill>
              </a:rPr>
              <a:t>Production Cost Minimization (Economics):</a:t>
            </a:r>
          </a:p>
          <a:p>
            <a:r>
              <a:rPr lang="en-US" sz="3200" dirty="0">
                <a:solidFill>
                  <a:schemeClr val="bg1"/>
                </a:solidFill>
              </a:rPr>
              <a:t>A factory manufactures two products using resources 𝑥and 𝑦with cost function: 𝐶(𝑥, 𝑦) = 5𝑥 2 + 3𝑦 2 + 4𝑥𝑦. Compute the gradient of 𝐶(𝑥, 𝑦)and analyze the conditions to determine the resource values that minimize the production cost.</a:t>
            </a:r>
            <a:endParaRPr lang="en-IN" sz="3200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236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B42FA-9E03-DE3F-A52C-CD6DFB0C66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46391B-1C88-BDC4-C7CF-8D30E762A9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8EB598-804F-93BD-5B83-1DFECC489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0128C8-E619-C666-476B-A9C1CADB74D1}"/>
              </a:ext>
            </a:extLst>
          </p:cNvPr>
          <p:cNvSpPr txBox="1"/>
          <p:nvPr/>
        </p:nvSpPr>
        <p:spPr>
          <a:xfrm>
            <a:off x="176981" y="334297"/>
            <a:ext cx="1178887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bg1"/>
              </a:solidFill>
            </a:endParaRPr>
          </a:p>
          <a:p>
            <a:r>
              <a:rPr lang="en-IN" sz="4000" dirty="0">
                <a:solidFill>
                  <a:schemeClr val="bg1"/>
                </a:solidFill>
              </a:rPr>
              <a:t>CODE: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42CE7E-A762-3C13-724C-A31932074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961" y="207219"/>
            <a:ext cx="8622891" cy="660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668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883B8-3AAA-BE04-E0F9-28D9427E1A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3CCFB9-416E-F8BA-573B-3F8D0C6685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51DFD3-7DAA-0167-DF80-46E961F9C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FDD3D2-5569-22CE-C860-3731C16349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362" y="239753"/>
            <a:ext cx="9937341" cy="63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526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704BE-5DF7-54C6-B889-F463390F53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DA69DC-D846-EE6A-B25F-C84DE712A0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429E3-CF98-0898-08F5-038359C30D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1549D8-EF62-D59C-7157-09F20C4A3A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72" y="441380"/>
            <a:ext cx="10392131" cy="551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278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BBED8-18E8-090D-0765-0A0A90361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7B3748-F502-6FD0-F348-000BF16444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CE6FC6-33E7-E072-6408-CC6DA253C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8CFDC2-F30B-8D3A-6BB4-E8F5414BDC36}"/>
              </a:ext>
            </a:extLst>
          </p:cNvPr>
          <p:cNvSpPr txBox="1"/>
          <p:nvPr/>
        </p:nvSpPr>
        <p:spPr>
          <a:xfrm>
            <a:off x="324465" y="199823"/>
            <a:ext cx="4178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OUTPUT: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6CEF54-3E94-38DD-27C8-714F19C59A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06" y="861311"/>
            <a:ext cx="4930197" cy="55935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2C9862-7B37-246C-66CE-81AA29DDFB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609" y="861311"/>
            <a:ext cx="5395428" cy="571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876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ACC9E-4AEC-666E-D375-A7799D6F93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2B8CF4-39DC-A96A-F794-D99D0B480F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C8566B-7AEA-7878-66CF-F855D24059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F951EB-309F-4D2C-BD28-914360DCF1A5}"/>
              </a:ext>
            </a:extLst>
          </p:cNvPr>
          <p:cNvSpPr txBox="1"/>
          <p:nvPr/>
        </p:nvSpPr>
        <p:spPr>
          <a:xfrm>
            <a:off x="2556387" y="2748130"/>
            <a:ext cx="86523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</a:t>
            </a:r>
            <a:r>
              <a:rPr lang="en-IN" sz="6000" dirty="0">
                <a:solidFill>
                  <a:schemeClr val="bg1"/>
                </a:solidFill>
                <a:latin typeface="Cooper Black" panose="0208090404030B0204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79417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Algerian</vt:lpstr>
      <vt:lpstr>Arial</vt:lpstr>
      <vt:lpstr>Calibri</vt:lpstr>
      <vt:lpstr>Calibri Light</vt:lpstr>
      <vt:lpstr>Cooper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Likhita Sri</dc:creator>
  <cp:lastModifiedBy>Likhita Sri</cp:lastModifiedBy>
  <cp:revision>1</cp:revision>
  <dcterms:created xsi:type="dcterms:W3CDTF">2026-03-11T05:55:17Z</dcterms:created>
  <dcterms:modified xsi:type="dcterms:W3CDTF">2026-03-11T05:55:18Z</dcterms:modified>
</cp:coreProperties>
</file>